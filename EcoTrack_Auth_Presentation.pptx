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professors and examiners. Today I am presenting the EcoTrack Corporate Sustainability platform. I will first walk through the overall system architecture and end-to-end business flow, and then dive deep into my primary ownership: Member 1 - Authentication, Authorization, Cryptographic Security, and Identity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establishes the problem. Modern companies are legally mandated to report carbon footprints, but data is fragmented in spreadsheets. EcoTrack provides a single multi-tenant platform, which makes security and multi-tenancy critical because corporate ESG numbers are sensitive and legally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show the architecture: React with TypeScript and Vite on the client, Express and Node.js on the backend, with MongoDB for persistence. Notice how security is baked in: JWTs, Bcrypt, Google OAuth, and Axios interceptors.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EcoTrack enforces the Principle of Least Privilege with three core roles: Admin controls the organization and users, Employee records operational emission data, and Executive views audit-ready sustainability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entire lifecycle: from registration and department creation, through daily logging, to data analytics and final ESG reporting. Notice that Step 1 is the prerequisite gateway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scope division. While other members handled logging, charts, and reports, Member 1 built the security backbone that protects every single one of those endpoints and user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transition fully into Member 1. My goal was clear: take EcoTrack from a prototype with mock authentication to a production-ready, bank-grade security architecture with real JWTs, Bcrypt, Google OAuth, and OTP account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shows the two sides of our auth architecture: the React client layer with AuthContext and Axios interceptor, and the Express server layer with authController and security middlewares.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user signs up on EcoTrack, they don't just create an account; they provision an entire organization tenant. The system creates both the Company and User records, assigns the admin role, and issues a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implement NIST and OWASP password complexity rules. Notice that we validate twice: on the client for visual feedback, and on the server for authoritative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Examiners love asking about Bcrypt. Make sure to emphasize: hashing is one-way, 10 rounds means 1024 iterations, the unique salt prevents Rainbow Tables, and timing attacks are neutralized.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login lifecycle. Point out the security defense against user enumeration: we return 'Invalid email or password' regardless of whether the email or password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 parts of the JWT: Header, Payload, and Signature. Highlight why stateless JWTs are superior for cloud microservices: no session database queries on every API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explains our Axios interceptor. It acts as an outgoing HTTP gatekeeper: every single API call gets automatically injected with 'Authorization: Bearer token'.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Google OAuth: Google issues an ID token, our backend verifies it using google-auth-library. Also mention our offline simulation modal, which lets reviewers test Google login even if offline!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3-step account recovery state machine in ForgotPasswordPage.tsx: 1. Email submission -&gt; 2. OTP verification -&gt; 3. Password reset. Notice the clean separation of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OTPs are hashed in the database and how MongoDB's TTL index works: expires: 600 means MongoDB's internal background thread deletes the document after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5-attempt brute-force limit: 5 guesses out of 1,000,000 makes brute force impossible. Then explain why we issue a 15-minute single-purpose reset JWT after OTP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emails are sent using Nodemailer. Point out the Ethereal email fallback: even without internet or SMTP credentials, it logs a preview link in the console for immediate live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Crucial viva point: emphasize the difference between frontend protection (UX) and backend protection (Security). ProtectedRoute in React handles redirects, but requireRole in Express is the real security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multi-tenancy: each company's data is isolated using companyId scoping on every database query. Also highlight defense in depth: select('-password') to never leak hashes.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gives examiners a complete index of all 17 files created or modified for authentication, demonstrating that every single line has been reviewed and detailed comments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these exact questions before presenting: why Bcrypt, what happens on JWT tampering, why hash OTPs, and the difference between client-side and server-side RBAC.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confidence: we built a complete, enterprise-grade authentication and authorization backbone. Open the floor for questions and offer to demonstrate the live login, registration, OTP email, or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ECOTRACK PLATFORM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</a:defRPr>
            </a:pPr>
            <a:r>
              <a:t>Corporate Sustainability Intelligence &amp; Carbon Accounting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</a:defRPr>
            </a:pPr>
            <a:r>
              <a:t>System Architecture, Business Flow &amp; Member 1: Authentication &amp; Security Core</a:t>
            </a:r>
          </a:p>
          <a:p>
            <a:pPr>
              <a:defRPr sz="1300">
                <a:solidFill>
                  <a:srgbClr val="6EE7B7"/>
                </a:solidFill>
              </a:defRPr>
            </a:pPr>
            <a:r>
              <a:t>Role: Member 1 (Authentication, Authorization &amp; Cryptographic Security)  |  Target: variablesmasher/ecotrack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The Corporate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ESG Mandates: Modern enterprises face strict government ESG disclosures (Scope 1, 2, 3 emissions).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Fragmented Silos: Emissions data is trapped in manual spreadsheets across multiple departments.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No Audit Trail: Inability to verify who inputted what data, leading to compliance penalties.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The EcoTrack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Unified SaaS Platform: Multi-tenant cloud platform aggregating enterprise sustainability data in real time.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Department Tracking: Monitors carbon emissions across Facilities, Logistics, Production, IT.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Audit-Ready Reports: Generates certified ESG analytics and PDF compliance exports.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Why Security is Paramount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Confidential Data: Corporate emissions figures directly impact investor ratings and public stock valuation.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Multi-Tenancy Isolation: Company A must NEVER access or alter Company B's emissions records.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Tamper Resistance: Strong cryptographic authentication guarantees data provenance and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PLATFORM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Full-Stack 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React 18 &amp; TypeScript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Vite (Fast HMR Bundler)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Tailwind CSS &amp; Lucide Icons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Context API (Auth &amp; Theme)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Axios HTTP Interceptor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Google Identity Services (GIS)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Backend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Node.js Runtime Environment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Express.js REST API Server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Mongoose ODM for MongoDB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Bcrypt.js (10 Salt Rounds)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JSON Web Tokens (JWT)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Nodemailer SMTP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Data &amp; Cloud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MongoDB Atlas / In-Memory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TTL Automatic Expire Indexes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Google OAuth 2.0 Web Client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RESTful API Endpoints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Render / Cloud Deployable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- CORS &amp; Reverse Proxy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ACCESS CONTROL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Personas &amp; Role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Administrator ('admin')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Company Onboarding &amp; Profile setup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Full Department management (Add/Edit/Delete)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User management &amp; team role assignments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Full emission log oversight &amp; review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Access to all system routes &amp;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Operations Employee ('employee')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Daily &amp; monthly carbon activity entry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Utility &amp; invoice CSV bulk file upload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Personal and departmental log history view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Edit draft carbon entries before lock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Restricted from company settings &amp;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ESG Executive ('executive')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High-level ESG analytics &amp; visual trends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Audit-ready compliance report generation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Cross-department comparison dashboards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Sustainability performance KPI tracking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- Read-only access to operational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Platform Business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438912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1: Org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New company signs up, selects country, sets strong admin credentials. (Member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645920"/>
            <a:ext cx="1828800" cy="438912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2: Department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Admin configures operational units: Manufacturing, Logistics, IT, HR. (Member 1/2)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645920"/>
            <a:ext cx="1828800" cy="438912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3: Activity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37744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Employees record electricity, fuel, freight &amp; flight carbon usage. (Member 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645920"/>
            <a:ext cx="1828800" cy="438912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4: Carbon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37744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Platform computes metric tons CO2e &amp; identifies high-emission spikes. (Member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645920"/>
            <a:ext cx="1828800" cy="438912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1828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5: ESG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377440"/>
            <a:ext cx="1554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Executive generates audit-compliant reports for investors and regulators. (Member 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PROJECT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Team Division of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Member 1 (Our Focus)</a:t>
            </a:r>
            <a:br/>
            <a:r>
              <a:t>Authentication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6EE7B7"/>
                </a:solidFill>
              </a:defRPr>
            </a:pPr>
            <a:r>
              <a:t>- Real JWT Authentication &amp; Session Token</a:t>
            </a:r>
          </a:p>
          <a:p>
            <a:pPr>
              <a:spcAft>
                <a:spcPts val="800"/>
              </a:spcAft>
              <a:defRPr sz="1200">
                <a:solidFill>
                  <a:srgbClr val="6EE7B7"/>
                </a:solidFill>
              </a:defRPr>
            </a:pPr>
            <a:r>
              <a:t>- Bcrypt (10 Salt Rounds) Password Storage</a:t>
            </a:r>
          </a:p>
          <a:p>
            <a:pPr>
              <a:spcAft>
                <a:spcPts val="800"/>
              </a:spcAft>
              <a:defRPr sz="1200">
                <a:solidFill>
                  <a:srgbClr val="6EE7B7"/>
                </a:solidFill>
              </a:defRPr>
            </a:pPr>
            <a:r>
              <a:t>- Google OAuth 2.0 &amp; Identity Services</a:t>
            </a:r>
          </a:p>
          <a:p>
            <a:pPr>
              <a:spcAft>
                <a:spcPts val="800"/>
              </a:spcAft>
              <a:defRPr sz="1200">
                <a:solidFill>
                  <a:srgbClr val="6EE7B7"/>
                </a:solidFill>
              </a:defRPr>
            </a:pPr>
            <a:r>
              <a:t>- Forgot Password with 6-Digit Email OTP</a:t>
            </a:r>
          </a:p>
          <a:p>
            <a:pPr>
              <a:spcAft>
                <a:spcPts val="800"/>
              </a:spcAft>
              <a:defRPr sz="1200">
                <a:solidFill>
                  <a:srgbClr val="6EE7B7"/>
                </a:solidFill>
              </a:defRPr>
            </a:pPr>
            <a:r>
              <a:t>- Strong Password Validator &amp; Live Meter</a:t>
            </a:r>
          </a:p>
          <a:p>
            <a:pPr>
              <a:spcAft>
                <a:spcPts val="800"/>
              </a:spcAft>
              <a:defRPr sz="1200">
                <a:solidFill>
                  <a:srgbClr val="6EE7B7"/>
                </a:solidFill>
              </a:defRPr>
            </a:pPr>
            <a:r>
              <a:t>- Role-Based Access Control (RBAC)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Member 2</a:t>
            </a:r>
            <a:br/>
            <a:r>
              <a:t>Carbon Activity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Carbon log entry forms (Scope 1, 2, 3)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Bulk CSV file parsing &amp; invoice upload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Activity category filtering &amp; pagination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Department log attribution &amp; tags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Activity audit timestamps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Members 3 &amp; 4</a:t>
            </a:r>
            <a:br/>
            <a:r>
              <a:t>Analytics &amp;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Monthly emissions trend charts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Departmental breakdown bar graphs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Net-zero reduction progress bars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PDF report generation &amp; export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Compliance audit summaries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18320" cy="438912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1463039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DEEP DIVE: MEMBER 1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869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8FAFC"/>
                </a:solidFill>
              </a:defRPr>
            </a:pPr>
            <a:r>
              <a:t>Authentication, Cryptographic Security &amp; Access Control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Eliminated Mock Auth: Replaced simulated logins with enterprise-grade cryptographic JWT tokens.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Production Password Hashing: Bcrypt with 10 salt rounds and timing-attack resistance.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Google Single Sign-On: Google Identity Services (GIS) with backend RSA certificate verification.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Multi-Step Account Recovery: 6-digit cryptographic OTP, Nodemailer SMTP, and MongoDB TTL.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NIST/OWASP Password Standards: Real-time client evaluation widget &amp; server enforcement.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End-to-End RBAC: Client route guarding (ProtectedRoute) and server API middleware (requireRole).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ARCHITECTURE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Member 1: Authentication Subsystem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Client-Side Authentication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AuthContext (React Context): Centralizes session state (token, user, role). Handles login(), register(), googleLogin(), and logout().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localStorage Persistence: Stores '{ token, user }' and automatically re-hydrates session via /api/auth/me on refresh.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Axios Request Interceptor: Automatically reads token and stamps 'Authorization: Bearer &lt;token&gt;' on all outgoing API calls.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PasswordStrengthMeter: Evaluates 5 complexity criteria live with reactive 4-color visual progress bars.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ProtectedRoute Guard: Enforces client-side route protection and role redirects.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Server-Side Security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authController.ts: 7 core endpoints: register, login, googleLogin, forgotPassword, verifyOtp, resetPassword, getMe.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requireAuth Middleware: Extracts Bearer token, verifies JWT cryptographic signature, and loads user profile.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requireRole Middleware: Factory middleware verifying user role against route permission whitelist (HTTP 403).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passwordValidator.ts: Backend validation enforcing NIST/OWASP complexity prior to hashing.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Otp &amp; User Models: Mongoose schemas with unique email indexing and 10-minute MongoDB TTL indexes.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USER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Multi-Tenant Registration &amp; Organization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Registration Workflow (Atomic Provisioning)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1. Input Data: Collects Organization Name, Country/Region, Admin Name, Email, and Password.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2. Real-Time Verification: Frontend checks confirm-password match &amp; 5 complexity rules.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3. Duplicate Check: Backend queries User.findOne({ email }) -&gt; returns HTTP 409 Conflict if taken.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4. Organization Creation: Provisions Company document in MongoDB with selected region.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5. User Creation: Hashes password via bcrypt and creates User with role='admin' linked to companyId.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6. Session Issuance: Signs 7-day JWT containing { id, role: 'admin', companyId } and returns HTTP 201.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Multi-Tenancy Security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Tenant Isolation: Every user is strictly anchored to a 'companyId' foreign key.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Automatic Admin Elevation: The first registrant of an organization is granted role='admin', establishing ownership.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Cross-Tenant Shielding: Every subsequent API request filters data by req.user.companyId, ensuring complete data privacy between rival corporations.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Lowercase Normalization: Emails are trimmed and lowercased to prevent duplicate accounts due to casing differences.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CREDENTIAL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Password Complexity: NIST &amp; OWASP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5 Security Criteria Enforced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1. Length (&gt;= 8 characters):</a:t>
            </a:r>
            <a:br/>
            <a:r>
              <a:t>  -&gt; Protects against standard brute-force search spaces.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2. Uppercase Letter [A-Z]:</a:t>
            </a:r>
            <a:br/>
            <a:r>
              <a:t>  -&gt; Increases character variety and key entropy.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3. Lowercase Letter [a-z]:</a:t>
            </a:r>
            <a:br/>
            <a:r>
              <a:t>  -&gt; Enforces diverse character sets.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4. Number [0-9]:</a:t>
            </a:r>
            <a:br/>
            <a:r>
              <a:t>  -&gt; Prevents purely alphabetical dictionary attacks.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5. Special Symbol [!@#$%^&amp;*]:</a:t>
            </a:r>
            <a:br/>
            <a:r>
              <a:t>  -&gt; Prevents automated rainbow table lookups.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Dual-Layer Validation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Client Layer (UX &amp; Immediate Feedback):</a:t>
            </a:r>
            <a:br/>
            <a:r>
              <a:t>PasswordStrengthMeter dynamically renders 4 color-coded segments (Weak -&gt; Fair -&gt; Strong) and checklist checkmarks as the user types.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Server Layer (Authoritative Gatekeeper):</a:t>
            </a:r>
            <a:br/>
            <a:r>
              <a:t>validateStrongPassword() in server/utils/passwordValidator.ts re-validates the password before hashing. If any rule fails, returns HTTP 400 Bad Request with a clear corrective message.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Why Both Layers?</a:t>
            </a:r>
            <a:br/>
            <a:r>
              <a:t>Client-side validation can be bypassed using cURL or Postman. The server validation ensures that zero weak passwords ever reach the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CRYPTOGRAPHY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Password Hashing via Bcrypt (10 Salt Rounds)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Why Bcrypt vs MD5 / SHA-256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The Problem with SHA-256:</a:t>
            </a:r>
            <a:br/>
            <a:r>
              <a:t>SHA-256 is designed for speed (gigahashes/sec on GPUs). Attackers can test billions of guesses per second using Rainbow Tables.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Bcrypt Adaptive Work Factor:</a:t>
            </a:r>
            <a:br/>
            <a:r>
              <a:t>Uses 10 salt rounds (2^10 = 1,024 key expansion iterations). Intentionally consumes CPU cycles so brute force attacks are computationally impractical.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Unique Cryptographic Salt:</a:t>
            </a:r>
            <a:br/>
            <a:r>
              <a:t>Bcrypt generates a unique random 22-character salt for each password. Even identical passwords yield completely different stored hashes.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Timing-Attack Resistance:</a:t>
            </a:r>
            <a:br/>
            <a:r>
              <a:t>bcrypt.compare() compares hashes in constant time, preventing hackers from measuring microsecond response differences.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Anatomy of a Stored Bcrypt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Stored Hash Example:</a:t>
            </a:r>
            <a:br/>
            <a:r>
              <a:t>$2a$10$N9qo8uLOickgx2ZMRZoMyeIjZAgcfl7p92ldGxad68LJZdL17lhWy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Breakdown:</a:t>
            </a:r>
            <a:br/>
            <a:r>
              <a:t>  * $2a$ = Algorithm identifier (Bcrypt)</a:t>
            </a:r>
            <a:br/>
            <a:r>
              <a:t>  * 10 = Cost factor (1024 rounds)</a:t>
            </a:r>
            <a:br/>
            <a:r>
              <a:t>  * N9qo8uLOickgx2ZMRZoMye = 22-character Salt</a:t>
            </a:r>
            <a:br/>
            <a:r>
              <a:t>  * IjZAgcfl7p92ldGxad68LJZdL17lhWy = 31-character Hash Digest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Key Viva Takeaway:</a:t>
            </a:r>
            <a:br/>
            <a:r>
              <a:t>Hashing is strictly one-way! We never decrypt passwords. When logging in, we hash the submitted password with the stored salt and compare the resulting digests.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LOGIN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User Authentication &amp; Session Issuance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Login Verification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1. Submission: User inputs email and password on LoginPage.tsx.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2. Normalization: Email trimmed and converted to lowercase.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3. Database Query: User.findOne({ email }). If not found, returns generic HTTP 401 'Invalid email or password' (prevents user enumeration).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4. Bcrypt Verification: bcrypt.compare(password, user.password) compares candidate against DB hash.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5. Organization Lookup: Fetches Company record to enrich session with organization details.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6. JWT Generation: Signs 7-day session token containing user ID, role, and companyId.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Security Design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Anti-Enumeration Error Messages:</a:t>
            </a:r>
            <a:br/>
            <a:r>
              <a:t>Whether the email does not exist or the password is incorrect, the server returns the identical message: 'Invalid email or password'. This prevents hackers from discovering valid accounts.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Password Hash Exclusion:</a:t>
            </a:r>
            <a:br/>
            <a:r>
              <a:t>Password hashes are never returned in login responses or stored in React state. Only safe profile fields (name, email, role, avatar) are exposed.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Session Re-hydration:</a:t>
            </a:r>
            <a:br/>
            <a:r>
              <a:t>When the user refreshes their browser, AuthContext calls GET /api/auth/me using the stored JWT to verify the account is still active.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SESSION TOKEN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JSON Web Tokens (JWT) &amp; Stateless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Anatomy of an EcoTrack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Header (Base64Url):</a:t>
            </a:r>
            <a:br/>
            <a:r>
              <a:t>{ 'alg': 'HS256', 'typ': 'JWT' }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Payload (Claims):</a:t>
            </a:r>
            <a:br/>
            <a:r>
              <a:t>{</a:t>
            </a:r>
            <a:br/>
            <a:r>
              <a:t>  'id': '65f01a8b...',</a:t>
            </a:r>
            <a:br/>
            <a:r>
              <a:t>  'role': 'admin',</a:t>
            </a:r>
            <a:br/>
            <a:r>
              <a:t>  'companyId': '65f019fc...',</a:t>
            </a:r>
            <a:br/>
            <a:r>
              <a:t>  'iat': 1710192000,</a:t>
            </a:r>
            <a:br/>
            <a:r>
              <a:t>  'exp': 1710796800 (7 days)</a:t>
            </a:r>
            <a:br/>
            <a:r>
              <a:t>}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Signature:</a:t>
            </a:r>
            <a:br/>
            <a:r>
              <a:t>HMACSHA256(</a:t>
            </a:r>
            <a:br/>
            <a:r>
              <a:t>  base64Url(Header) + '.' + base64Url(Payload),</a:t>
            </a:r>
            <a:br/>
            <a:r>
              <a:t>  process.env.JWT_SECRET</a:t>
            </a:r>
            <a:br/>
            <a:r>
              <a:t>)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Tamper-Proof Guarantee:</a:t>
            </a:r>
            <a:br/>
            <a:r>
              <a:t>If an attacker changes 'role' from 'employee' to 'admin', the signature will not match and the server rejects it instantly with HTTP 401.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Why Stateless Beats Stateful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Traditional Stateful Sessions:</a:t>
            </a:r>
            <a:br/>
            <a:r>
              <a:t>  * Server stores session ID in Redis/RAM database.</a:t>
            </a:r>
            <a:br/>
            <a:r>
              <a:t>  * Every single HTTP request requires a database lookup.</a:t>
            </a:r>
            <a:br/>
            <a:r>
              <a:t>  * Hard to scale horizontally across multiple backend servers.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EcoTrack Stateless JWT:</a:t>
            </a:r>
            <a:br/>
            <a:r>
              <a:t>  * Session data is stored inside the signed token itself.</a:t>
            </a:r>
            <a:br/>
            <a:r>
              <a:t>  * Zero database lookups for session verification.</a:t>
            </a:r>
            <a:br/>
            <a:r>
              <a:t>  * Verified in CPU memory using secret key in microseconds.</a:t>
            </a:r>
            <a:br/>
            <a:r>
              <a:t>  * Scales horizontally across any number of server nodes effortlessly.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FRONTEND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Client-Side Token Interception (Axios Interceptor)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Implementation in src/api/axiosClient.ts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EE7B7"/>
                </a:solidFill>
              </a:defRPr>
            </a:pPr>
            <a:r>
              <a:t>// Automatically attaches Bearer token to all outgoing requests</a:t>
            </a:r>
            <a:br/>
            <a:r>
              <a:t>apiClient.interceptors.request.use((config) =&gt; {</a:t>
            </a:r>
            <a:br/>
            <a:r>
              <a:t>  const storedAuth = localStorage.getItem('auth');</a:t>
            </a:r>
            <a:br/>
            <a:r>
              <a:t>  if (storedAuth) {</a:t>
            </a:r>
            <a:br/>
            <a:r>
              <a:t>    try {</a:t>
            </a:r>
            <a:br/>
            <a:r>
              <a:t>      const { token } = JSON.parse(storedAuth);</a:t>
            </a:r>
            <a:br/>
            <a:r>
              <a:t>      if (token) {</a:t>
            </a:r>
            <a:br/>
            <a:r>
              <a:t>        config.headers.Authorization = `Bearer ${token}`;</a:t>
            </a:r>
            <a:br/>
            <a:r>
              <a:t>      }</a:t>
            </a:r>
            <a:br/>
            <a:r>
              <a:t>    } catch {}</a:t>
            </a:r>
            <a:br/>
            <a:r>
              <a:t>  }</a:t>
            </a:r>
            <a:br/>
            <a:r>
              <a:t>  return config;</a:t>
            </a:r>
            <a:br/>
            <a: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Why This Architecture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Zero Boilerplate:</a:t>
            </a:r>
            <a:br/>
            <a:r>
              <a:t>Developers never need to manually write 'headers: { Authorization }' in components. It happens transparently.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Clean Separation of Concerns:</a:t>
            </a:r>
            <a:br/>
            <a:r>
              <a:t>Components focus on business logic (forms, graphs, tables) rather than HTTP transport security.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RFC 6750 Standard Compliant:</a:t>
            </a:r>
            <a:br/>
            <a:r>
              <a:t>Implements the standard OAuth 2.0 Bearer token authorization scheme recognized by all web proxies and API gateways.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Graceful Degradation:</a:t>
            </a:r>
            <a:br/>
            <a:r>
              <a:t>If local storage is corrupt or empty, the request proceeds unauthenticated, letting the server return 401.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SINGLE SIGN-ON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Google OAuth 2.0 &amp; Google Identity Services (GIS)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Google Sign-In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1. Google GIS Button: Embedded via Google Identity Services script. Renders native one-click account selector.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2. OpenID Connect ID Token: Google authenticates user and returns a signed JWT credential to handleCredentialResponse().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3. Backend Transmission: Frontend posts credential string to POST /api/auth/google.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4. Cryptographic Verification: Backend uses google-auth-library (OAuth2Client) to verify Google's RSA signature against Google's public certificates.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5. User Provisioning / Linking: If user exists, links account; if new user, auto-provisions Company and User with role='admin'.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Development Simulation 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The Challenge:</a:t>
            </a:r>
            <a:br/>
            <a:r>
              <a:t>Google OAuth requires configuring origin URIs and domain authorization in Google Cloud Console, which fails during offline presentations or localhost port changes.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Our Solution: Dual-Mode Operation:</a:t>
            </a:r>
            <a:br/>
            <a:r>
              <a:t>When VITE_GOOGLE_CLIENT_ID is set in .env, renders the official Google GIS button.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Built-in Simulation Fallback:</a:t>
            </a:r>
            <a:br/>
            <a:r>
              <a:t>If running offline or without credentials, clicking the Google button opens a custom test dialog allowing examiners to test instant Google login with a test profile!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Zero Evaluation Breakage:</a:t>
            </a:r>
            <a:br/>
            <a:r>
              <a:t>Guarantees 100% testability for professors and reviewers in any environment.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PASSWORD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Account Recovery: 3-Step State Machine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1: Email Request</a:t>
            </a:r>
            <a:br/>
            <a:r>
              <a:t>POST /api/auth/forgot-password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User submits registered email address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Server checks user existence in MongoDB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Generates 6-digit cryptographic OTP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Hashes OTP with Bcrypt before saving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Stores in MongoDB with 10-min TTL index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Sends branded HTML email via Nodemailer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2: OTP Verification</a:t>
            </a:r>
            <a:br/>
            <a:r>
              <a:t>POST /api/auth/verify-otp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User enters 6 digits in auto-forwarding boxes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Rate-limited to max 5 failed attempts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Compares input with stored Bcrypt hash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Deletes OTP record immediately on match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Issues single-purpose 15-minute reset token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- 60-second cooldown timer for resend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Step 3: Password Reset</a:t>
            </a:r>
            <a:br/>
            <a:r>
              <a:t>POST /api/auth/reset-password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User submits new password with live meter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Verifies 15-minute reset JWT signature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Validates NIST/OWASP complexity rules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Hashes new password with Bcrypt (10 rounds)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Updates User document in MongoDB</a:t>
            </a:r>
          </a:p>
          <a:p>
            <a:pPr>
              <a:spcAft>
                <a:spcPts val="700"/>
              </a:spcAft>
              <a:defRPr sz="1100">
                <a:solidFill>
                  <a:srgbClr val="F8FAFC"/>
                </a:solidFill>
              </a:defRPr>
            </a:pPr>
            <a:r>
              <a:t>- Redirects user to Login with success toast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TEMPORARY CREDENTIAL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OTP Cryptography &amp; MongoDB TTL Indexes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OTP Generation &amp; Hashed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Cryptographic Randomness:</a:t>
            </a:r>
            <a:br/>
            <a:r>
              <a:t>Uses crypto.randomInt(100000, 1000000) rather than Math.random(). Math.random() is pseudo-random and predictable. crypto.randomInt is cryptographically secure.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Why Hash the OTP in MongoDB?</a:t>
            </a:r>
            <a:br/>
            <a:r>
              <a:t>We never store raw OTPs. If a database dump is leaked, attackers could see unexpired OTPs and hijack accounts within the 10-minute window. Hashing with Bcrypt guarantees confidentiality even if the DB is compromised.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Attempt Counting:</a:t>
            </a:r>
            <a:br/>
            <a:r>
              <a:t>The schema stores an 'attempts' field, incrementing on every failure to prevent brute-force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MongoDB TTL (Time-To-Live)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Mongoose Schema Definition:</a:t>
            </a:r>
            <a:br/>
            <a:r>
              <a:t>createdAt: { type: Date, default: Date.now, expires: 600 }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How It Works:</a:t>
            </a:r>
            <a:br/>
            <a:r>
              <a:t>MongoDB maintains a background thread that monitors documents on indexed Date fields.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Automatic Purging:</a:t>
            </a:r>
            <a:br/>
            <a:r>
              <a:t>Exactly 600 seconds (10 minutes) after creation, MongoDB automatically purges the OTP document from disk.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Why This is Superior:</a:t>
            </a:r>
            <a:br/>
            <a:r>
              <a:t>Zero cron jobs, zero background tasks, zero database bloat. The database cleans up after itself automatically.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ACCOUNT RECOVERY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Brute-Force Defense &amp; 15-Minute Reset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Brute-Force Attack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The Math of 6 Digits:</a:t>
            </a:r>
            <a:br/>
            <a:r>
              <a:t>A 6-digit numeric OTP has 1,000,000 possibilities (10^6). A script sending 1,000 requests/sec could brute-force it in minutes.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Our Defense Mechanism:</a:t>
            </a:r>
            <a:br/>
            <a:r>
              <a:t>  1. 10-minute short lifespan via TTL.</a:t>
            </a:r>
            <a:br/>
            <a:r>
              <a:t>  2. Max 5 attempt limit enforced in database.</a:t>
            </a:r>
            <a:br/>
            <a:r>
              <a:t>  3. If attempts &gt;= 5, the OTP is destroyed immediately and returns HTTP 429 Too Many Requests.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Result:</a:t>
            </a:r>
            <a:br/>
            <a:r>
              <a:t>An attacker has a maximum of 5 guesses out of 1,000,000 combinations (0.0005% probability), making brute force statistically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Single-Purpose Reset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Why Not Reset Immediately on OTP?</a:t>
            </a:r>
            <a:br/>
            <a:r>
              <a:t>Once OTP is verified, the user enters step 3 to type their new password. We delete the OTP record immediately so it cannot be reused.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The Reset Token Solution:</a:t>
            </a:r>
            <a:br/>
            <a:r>
              <a:t>The server issues a cryptographically signed JWT: { id, email, purpose: 'password_reset' } valid for 15 minutes only.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Strict Endpoint Guard:</a:t>
            </a:r>
            <a:br/>
            <a:r>
              <a:t>POST /api/auth/reset-password requires this token and validates decoded.purpose === 'password_reset'. Regular session tokens are rejected.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Benefit:</a:t>
            </a:r>
            <a:br/>
            <a:r>
              <a:t>Guarantees that only a user who correctly verified an OTP within the last 15 minutes can reset the password.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NOTIFICATION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Email Delivery Subsystem: Nodemailer &amp; SMTP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Nodemailer Architecture (emailService.ts)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SMTP Configuration:</a:t>
            </a:r>
            <a:br/>
            <a:r>
              <a:t>Supports standard SMTP transport (Gmail, AWS SES, SendGrid, Mailgun) configured via SMTP_HOST, SMTP_PORT, SMTP_USER, SMTP_PASS.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HTML Template Design:</a:t>
            </a:r>
            <a:br/>
            <a:r>
              <a:t>Renders a branded email layout featuring the EcoTrack green color scheme, security warnings, and the 6-digit OTP code in a prominent box.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Security Notice:</a:t>
            </a:r>
            <a:br/>
            <a:r>
              <a:t>Email includes explicit warning: 'This OTP will expire in 10 minutes. If you did not request this, please ignore this email.'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Asynchronous Dispatch:</a:t>
            </a:r>
            <a:br/>
            <a:r>
              <a:t>Email dispatch runs without blocking main event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Ethereal Sandbox for Local Viva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The Local Testing Challenge:</a:t>
            </a:r>
            <a:br/>
            <a:r>
              <a:t>In academic and offline environments, production SMTP servers often fail due to campus firewall port blocks or missing API keys.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Automated Ethereal Fallback:</a:t>
            </a:r>
            <a:br/>
            <a:r>
              <a:t>If SMTP credentials are not set, emailService.ts automatically calls nodemailer.createTestAccount() to create a virtual sandbox.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Terminal Preview URL:</a:t>
            </a:r>
            <a:br/>
            <a:r>
              <a:t>When an OTP is dispatched, the server logs a direct preview link in terminal: 'Preview URL: https://ethereal.email/message/...'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Live Demonstration:</a:t>
            </a:r>
            <a:br/>
            <a:r>
              <a:t>Examiners can click the link, view the rendered HTML email in their browser, and copy the OTP code live!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AUTHORIZATION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Dual-Layer Role-Based Access Control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Layer 1: Frontend Route Guard (ProtectedRoute)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Implemented in src/App.tsx:</a:t>
            </a:r>
            <a:br/>
            <a:r>
              <a:t>&lt;ProtectedRoute allowedRoles={['admin']}&gt;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Client-Side Logic:</a:t>
            </a:r>
            <a:br/>
            <a:r>
              <a:t>  1. Waits for auth re-hydration (isLoading === false).</a:t>
            </a:r>
            <a:br/>
            <a:r>
              <a:t>  2. If !isAuthenticated -&gt; redirects to /login.</a:t>
            </a:r>
            <a:br/>
            <a:r>
              <a:t>  3. If allowedRoles does not include user role -&gt; redirects to /dashboard.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Purpose (User Experience):</a:t>
            </a:r>
            <a:br/>
            <a:r>
              <a:t>Ensures users never see broken or unauthorized pages. Hides admin-only navigation links (Departments, Users, Company Profile) from employees.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Layer 2: Server Middleware Guard (requireRole)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Implemented in server/middleware/requireRole.ts:</a:t>
            </a:r>
            <a:br/>
            <a:r>
              <a:t>router.delete('/departments/:id', requireAuth, requireRole(['admin']), deleteDept);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Server-Side Logic:</a:t>
            </a:r>
            <a:br/>
            <a:r>
              <a:t>Checks req.user.role extracted from verified JWT. If role is not permitted, immediately returns HTTP 403 Forbidden.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Why Server RBAC is Mandatory:</a:t>
            </a:r>
            <a:br/>
            <a:r>
              <a:t>Frontend code can be easily manipulated via dev tools. The Express middleware is the authoritative security boundary that makes unauthorized database operations impossible.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ENTERPRISE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Multi-Tenancy Security &amp; Data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How Multi-Tenancy Works in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Shared Database, Isolated Collections:</a:t>
            </a:r>
            <a:br/>
            <a:r>
              <a:t>All tenants share a single MongoDB cluster, reducing cloud infrastructure costs.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Enforced Foreign Key Scoping:</a:t>
            </a:r>
            <a:br/>
            <a:r>
              <a:t>Every single User, Department, and CarbonLog document contains a companyId referencing the tenant organization.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Query-Level Filtering:</a:t>
            </a:r>
            <a:br/>
            <a:r>
              <a:t>All backend controllers strictly scope queries:</a:t>
            </a:r>
            <a:br/>
            <a:r>
              <a:t>const logs = await CarbonLog.find({ companyId: req.user.companyId });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Impossible Cross-Tenant Access:</a:t>
            </a:r>
            <a:br/>
            <a:r>
              <a:t>Even if an employee guesses an ID from another company, the query returns null because the companyId does not 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Defense in Depth Security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Password Hash Sanitization:</a:t>
            </a:r>
            <a:br/>
            <a:r>
              <a:t>User.findById().select('-password') guarantees that password hashes are never returned in JSON API responses or logged in server telemetry.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Environment Variable Safeguards:</a:t>
            </a:r>
            <a:br/>
            <a:r>
              <a:t>getJwtSecret() helper throws an immediate startup crash if JWT_SECRET is missing, preventing insecure fallback defaults.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CORS &amp; CSRF Protection:</a:t>
            </a:r>
            <a:br/>
            <a:r>
              <a:t>Standard HTTP headers restrict origin domains. Stateless tokens are impervious to CSRF attacks because browsers do not automatically send custom Authorization headers.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FILE REFERENCE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Codebase Index: 17 Auth-Related Files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Backend Files (server/)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controllers/authController.ts: 7 core endpoints (register, login, google, otp, reset)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routes/authRoutes.ts: Express route mappings and middleware chaining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middleware/auth.ts: Bearer token validator &amp; req.user injector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middleware/requireRole.ts: RBAC middleware guard returning HTTP 403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models/User.ts: User Mongoose schema with email indexing &amp; enum roles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models/Otp.ts: Temporary OTP schema with 10-minute MongoDB TTL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utils/emailService.ts: Nodemailer SMTP email dispatcher &amp; Ethereal test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utils/passwordValidator.ts: Backend NIST/OWASP password complexity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Frontend Files (src/)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pages/auth/RegisterPage.tsx: Multi-tenant registration &amp; password meter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pages/auth/LoginPage.tsx: Login form, Google button, show/hide pass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pages/auth/ForgotPasswordPage.tsx: 3-step state machine (Email, OTP, Reset)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context/AuthContext.tsx: React Context with token persistence &amp; session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components/auth/PasswordStrengthMeter.tsx: 4-bar reactive progress &amp; checklist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components/auth/GoogleSignInButton.tsx: Google GIS integration &amp; dev modal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utils/passwordValidator.ts: Client-side password evaluation rules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api/axiosClient.ts: Axios instance with Bearer token interceptor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* App.tsx: Client-side ProtectedRoute &amp; RBAC route table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EXAMINATION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Viva Questions &amp; Technical Code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Top 3 Architectural Viva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</a:defRPr>
            </a:pPr>
            <a:r>
              <a:t>Q: Why Bcrypt instead of SHA-256?</a:t>
            </a:r>
            <a:br/>
            <a:r>
              <a:t>A: SHA-256 is too fast and vulnerable to GPU brute forcing and Rainbow Tables. Bcrypt has an adaptive cost factor (10 rounds = 1024 iterations) and unique random salts.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</a:defRPr>
            </a:pPr>
            <a:r>
              <a:t>Q: What if an attacker alters their role in a JWT?</a:t>
            </a:r>
            <a:br/>
            <a:r>
              <a:t>A: Tampering invalidates the HMAC-SHA256 signature calculated with JWT_SECRET. The server rejects it immediately with HTTP 401 Unauthorized.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</a:defRPr>
            </a:pPr>
            <a:r>
              <a:t>Q: Why not store plain OTPs in MongoDB?</a:t>
            </a:r>
            <a:br/>
            <a:r>
              <a:t>A: If the database is compromised, attackers could read active OTPs and hijack accounts. Hashing with Bcrypt ensures OTP confidentiality even during a DB breach.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Top 3 Implementation Viva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</a:defRPr>
            </a:pPr>
            <a:r>
              <a:t>Q: What is the difference between ProtectedRoute and requireRole?</a:t>
            </a:r>
            <a:br/>
            <a:r>
              <a:t>A: ProtectedRoute is a frontend React guard for user redirection; requireRole is the authoritative backend Express middleware that returns HTTP 403 Forbidden.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</a:defRPr>
            </a:pPr>
            <a:r>
              <a:t>Q: What is MongoDB TTL and why use it?</a:t>
            </a:r>
            <a:br/>
            <a:r>
              <a:t>A: Time-To-Live index that automatically purges OTP documents 10 minutes after creation, eliminating database bloat without cron jobs.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</a:defRPr>
            </a:pPr>
            <a:r>
              <a:t>Q: How does the Axios Interceptor work?</a:t>
            </a:r>
            <a:br/>
            <a:r>
              <a:t>A: It intercepts outgoing HTTP requests, reads the JWT from localStorage, and stamps 'Authorization: Bearer &lt;token&gt;' automatically.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18320" cy="4389120"/>
          </a:xfrm>
          <a:prstGeom prst="roundRect">
            <a:avLst/>
          </a:prstGeom>
          <a:solidFill>
            <a:srgbClr val="1621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1463039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EE7B7"/>
                </a:solidFill>
              </a:defRPr>
            </a:pPr>
            <a:r>
              <a:t>PROJECT CONCLUSION &amp; MILESTONES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869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</a:defRPr>
            </a:pPr>
            <a:r>
              <a:t>EcoTrack Authentication &amp; Security is 100% Production Ready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Replaced 100% of mock authentication with production JWT and Bcrypt cryptography.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Delivered Google Identity Services (GIS) OAuth 2.0 with offline testing simulation.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Built enterprise-grade account recovery: 6-digit OTP, MongoDB TTL, and rate limiting.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Enforced Dual-Layer RBAC across Admin, Employee, and Executive tiers.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Implemented real-time password complexity evaluation matching NIST &amp; OWASP rules.</a:t>
            </a:r>
          </a:p>
          <a:p>
            <a:pPr>
              <a:spcAft>
                <a:spcPts val="800"/>
              </a:spcAft>
              <a:defRPr sz="1300">
                <a:solidFill>
                  <a:srgbClr val="6EE7B7"/>
                </a:solidFill>
              </a:defRPr>
            </a:pPr>
            <a:r>
              <a:t>  *  Documented 100% of lines across all 17 auth files with zero compile errors (tsc --noEmit).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Thank You! Questions &amp; Code Walkthrough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